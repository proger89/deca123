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b030c62e514951" /><Relationship Type="http://schemas.openxmlformats.org/officeDocument/2006/relationships/extended-properties" Target="/docProps/app.xml" Id="R3bc65d01817f4220" /><Relationship Type="http://schemas.openxmlformats.org/officeDocument/2006/relationships/officeDocument" Target="/ppt/presentation.xml" Id="Rfa92b69e397d4d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2e869d3d534c59"/>
  </p:sldMasterIdLst>
  <p:notesMasterIdLst>
    <p:notesMasterId xmlns:r="http://schemas.openxmlformats.org/officeDocument/2006/relationships" r:id="R640d83d27dd046fd"/>
  </p:notesMasterIdLst>
  <p:sldIdLst>
    <p:sldId xmlns:r="http://schemas.openxmlformats.org/officeDocument/2006/relationships" id="256" r:id="R3540dce23e334405"/>
    <p:sldId xmlns:r="http://schemas.openxmlformats.org/officeDocument/2006/relationships" id="257" r:id="R10c4747b53224dbd"/>
    <p:sldId xmlns:r="http://schemas.openxmlformats.org/officeDocument/2006/relationships" id="258" r:id="R0cbaae652b204745"/>
    <p:sldId xmlns:r="http://schemas.openxmlformats.org/officeDocument/2006/relationships" id="259" r:id="R9e48422ef627461d"/>
    <p:sldId xmlns:r="http://schemas.openxmlformats.org/officeDocument/2006/relationships" id="260" r:id="R3c3ed8bdcd834ded"/>
    <p:sldId xmlns:r="http://schemas.openxmlformats.org/officeDocument/2006/relationships" id="261" r:id="Rcef0dae153314a7b"/>
    <p:sldId xmlns:r="http://schemas.openxmlformats.org/officeDocument/2006/relationships" id="262" r:id="Rc8ef516d1823461c"/>
    <p:sldId xmlns:r="http://schemas.openxmlformats.org/officeDocument/2006/relationships" id="263" r:id="R2a9c0a8ec7ad431a"/>
    <p:sldId xmlns:r="http://schemas.openxmlformats.org/officeDocument/2006/relationships" id="264" r:id="R1e2988a7e1c046d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899301e23e4383" /><Relationship Type="http://schemas.openxmlformats.org/officeDocument/2006/relationships/slideMaster" Target="/ppt/slideMasters/slideMaster1.xml" Id="Re32e869d3d534c59" /><Relationship Type="http://schemas.openxmlformats.org/officeDocument/2006/relationships/notesMaster" Target="/ppt/notesMasters/notesMaster1.xml" Id="R640d83d27dd046fd" /><Relationship Type="http://schemas.openxmlformats.org/officeDocument/2006/relationships/presProps" Target="/ppt/presProps.xml" Id="Rd55ac41166774f90" /><Relationship Type="http://schemas.openxmlformats.org/officeDocument/2006/relationships/tableStyles" Target="/ppt/tableStyles.xml" Id="R10ceb6bfff164fdd" /><Relationship Type="http://schemas.openxmlformats.org/officeDocument/2006/relationships/slide" Target="/ppt/slides/slide1.xml" Id="R3540dce23e334405" /><Relationship Type="http://schemas.openxmlformats.org/officeDocument/2006/relationships/slide" Target="/ppt/slides/slide2.xml" Id="R10c4747b53224dbd" /><Relationship Type="http://schemas.openxmlformats.org/officeDocument/2006/relationships/slide" Target="/ppt/slides/slide3.xml" Id="R0cbaae652b204745" /><Relationship Type="http://schemas.openxmlformats.org/officeDocument/2006/relationships/slide" Target="/ppt/slides/slide4.xml" Id="R9e48422ef627461d" /><Relationship Type="http://schemas.openxmlformats.org/officeDocument/2006/relationships/slide" Target="/ppt/slides/slide5.xml" Id="R3c3ed8bdcd834ded" /><Relationship Type="http://schemas.openxmlformats.org/officeDocument/2006/relationships/slide" Target="/ppt/slides/slide6.xml" Id="Rcef0dae153314a7b" /><Relationship Type="http://schemas.openxmlformats.org/officeDocument/2006/relationships/slide" Target="/ppt/slides/slide7.xml" Id="Rc8ef516d1823461c" /><Relationship Type="http://schemas.openxmlformats.org/officeDocument/2006/relationships/slide" Target="/ppt/slides/slide8.xml" Id="R2a9c0a8ec7ad431a" /><Relationship Type="http://schemas.openxmlformats.org/officeDocument/2006/relationships/slide" Target="/ppt/slides/slide9.xml" Id="R1e2988a7e1c046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b3dff2812441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4bff12ce704727" /><Relationship Type="http://schemas.openxmlformats.org/officeDocument/2006/relationships/notesMaster" Target="/ppt/notesMasters/notesMaster1.xml" Id="R1e2f1706c7c649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b6ffa3cf7c413b" /><Relationship Type="http://schemas.openxmlformats.org/officeDocument/2006/relationships/notesMaster" Target="/ppt/notesMasters/notesMaster1.xml" Id="R90d511eb583e4d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945442be21493f" /><Relationship Type="http://schemas.openxmlformats.org/officeDocument/2006/relationships/notesMaster" Target="/ppt/notesMasters/notesMaster1.xml" Id="R49193ad282324e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b47fce21f24bea" /><Relationship Type="http://schemas.openxmlformats.org/officeDocument/2006/relationships/notesMaster" Target="/ppt/notesMasters/notesMaster1.xml" Id="Rfef57c08d0bf45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c6d0f24fea4853" /><Relationship Type="http://schemas.openxmlformats.org/officeDocument/2006/relationships/notesMaster" Target="/ppt/notesMasters/notesMaster1.xml" Id="R5505df86edce44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db84a994814ef1" /><Relationship Type="http://schemas.openxmlformats.org/officeDocument/2006/relationships/notesMaster" Target="/ppt/notesMasters/notesMaster1.xml" Id="R729e6e8396b14b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8a2aa10f5842d2" /><Relationship Type="http://schemas.openxmlformats.org/officeDocument/2006/relationships/notesMaster" Target="/ppt/notesMasters/notesMaster1.xml" Id="Rfc62b4bca02149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7b7d7969914ab2" /><Relationship Type="http://schemas.openxmlformats.org/officeDocument/2006/relationships/notesMaster" Target="/ppt/notesMasters/notesMaster1.xml" Id="Re65990795a4d45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d847cd70e948c2" /><Relationship Type="http://schemas.openxmlformats.org/officeDocument/2006/relationships/notesMaster" Target="/ppt/notesMasters/notesMaster1.xml" Id="R9d12a4ad96204f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0664fcf47545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d0dfdb51c5406f" /><Relationship Type="http://schemas.openxmlformats.org/officeDocument/2006/relationships/slideLayout" Target="/ppt/slideLayouts/slideLayout1.xml" Id="Rac54134bf8a04a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54134bf8a04a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bb11eb30741a0" /><Relationship Type="http://schemas.openxmlformats.org/officeDocument/2006/relationships/image" Target="/ppt/media/image.jpeg" Id="R6743315cbb014d70" /><Relationship Type="http://schemas.openxmlformats.org/officeDocument/2006/relationships/notesSlide" Target="/ppt/notesSlides/notesSlide1.xml" Id="R2e67124f46794a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cd9f09db949e7" /><Relationship Type="http://schemas.openxmlformats.org/officeDocument/2006/relationships/notesSlide" Target="/ppt/notesSlides/notesSlide2.xml" Id="R5ca2c69fb87548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fd76e326c4478" /><Relationship Type="http://schemas.openxmlformats.org/officeDocument/2006/relationships/notesSlide" Target="/ppt/notesSlides/notesSlide3.xml" Id="R6628bf0ef0f040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68bcd7e834294" /><Relationship Type="http://schemas.openxmlformats.org/officeDocument/2006/relationships/image" Target="/ppt/media/image2.jpeg" Id="R394da0bcf8d64917" /><Relationship Type="http://schemas.openxmlformats.org/officeDocument/2006/relationships/image" Target="/ppt/media/image.png" Id="Rb1096087c8a14132" /><Relationship Type="http://schemas.openxmlformats.org/officeDocument/2006/relationships/image" Target="/ppt/media/image2.png" Id="R4656b4c0dcc345d2" /><Relationship Type="http://schemas.openxmlformats.org/officeDocument/2006/relationships/notesSlide" Target="/ppt/notesSlides/notesSlide4.xml" Id="R77012ad965e445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1d4eefe744528" /><Relationship Type="http://schemas.openxmlformats.org/officeDocument/2006/relationships/image" Target="/ppt/media/image3.png" Id="Rdfc6c4e540fe401f" /><Relationship Type="http://schemas.openxmlformats.org/officeDocument/2006/relationships/notesSlide" Target="/ppt/notesSlides/notesSlide5.xml" Id="Rbf5e72aa784444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91300a314473b" /><Relationship Type="http://schemas.openxmlformats.org/officeDocument/2006/relationships/notesSlide" Target="/ppt/notesSlides/notesSlide6.xml" Id="R0a86758636ee4c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5c8d428de4b53" /><Relationship Type="http://schemas.openxmlformats.org/officeDocument/2006/relationships/notesSlide" Target="/ppt/notesSlides/notesSlide7.xml" Id="Raa8fb457588242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e40640d7944de" /><Relationship Type="http://schemas.openxmlformats.org/officeDocument/2006/relationships/image" Target="/ppt/media/image4.png" Id="Rabac17a1d0434285" /><Relationship Type="http://schemas.openxmlformats.org/officeDocument/2006/relationships/notesSlide" Target="/ppt/notesSlides/notesSlide8.xml" Id="R85c61b8777e148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c52764d1e4f62" /><Relationship Type="http://schemas.openxmlformats.org/officeDocument/2006/relationships/notesSlide" Target="/ppt/notesSlides/notesSlide9.xml" Id="R5bd29e7962e840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9E285-2B21-4402-AF2E-A990B47B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2667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FF4"/>
          </a:solidFill>
          <a:ln xmlns:a="http://schemas.openxmlformats.org/drawingml/2006/main" w="9525">
            <a:solidFill>
              <a:srgbClr val="0B6F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ЗАДАЧА 3 · ROBOZONE / OZON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ECCBF-3A29-4F17-9E52-B74DDAE6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619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SafeSort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61347-D1B6-4C73-BF22-600B94A8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4714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7E4F4"/>
                </a:solidFill>
              </a:defRPr>
            </a:pPr>
            <a:r>
              <a:rPr sz="2250" b="1">
                <a:solidFill>
                  <a:srgbClr val="D7E4F4"/>
                </a:solidFill>
              </a:rPr>
              <a:t>Измерили → направили → подтвердили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02837-AA66-47C5-8DAF-35DB15E4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FC8FF"/>
                </a:solidFill>
              </a:defRPr>
            </a:pPr>
            <a:r>
              <a:rPr sz="1575">
                <a:solidFill>
                  <a:srgbClr val="7FC8FF"/>
                </a:solidFill>
              </a:rPr>
              <a:t>Цифровой испытательный стенд сортировочной ячейки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3315cbb014d70"/>
          <a:srcRect xmlns:a="http://schemas.openxmlformats.org/drawingml/2006/main" l="18943" t="0" r="189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704850"/>
            <a:ext cx="5905500" cy="468630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ADFD6-B319-4D49-BB62-82ABF456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626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Неизвестный товар → маршрут B → выход B подтверждён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DBF31-BDD5-4729-A427-BA4C2DDA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8D8EC"/>
                </a:solidFill>
              </a:defRPr>
            </a:pPr>
            <a:r>
              <a:rPr sz="1200">
                <a:solidFill>
                  <a:srgbClr val="C8D8EC"/>
                </a:solidFill>
              </a:rPr>
              <a:t>Работает локально · запускается через Docker · STL остаётся в браузере</a:t>
            </a:r>
          </a:p>
        </p:txBody>
      </p:sp>
    </p:spTree>
    <p:extLst>
      <p:ext uri="{BB962C8B-B14F-4D97-AF65-F5344CB8AC3E}">
        <p14:creationId xmlns:p14="http://schemas.microsoft.com/office/powerpoint/2010/main" val="16717929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506C86-1390-4967-936A-0EC73C16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6FF4"/>
                </a:solidFill>
              </a:defRPr>
            </a:pPr>
            <a:r>
              <a:rPr sz="975" b="1">
                <a:solidFill>
                  <a:srgbClr val="0B6FF4"/>
                </a:solidFill>
              </a:rPr>
              <a:t>КАК РАБОТАЕТ СИСТЕМА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50E86-FD6B-4C7B-9738-B53CA09C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Во время сортировки контроллер видит датчики, а не файл STL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3A445-7306-4D95-BA68-4FA6C609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674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F85"/>
                </a:solidFill>
              </a:defRPr>
            </a:pPr>
            <a:r>
              <a:rPr sz="900">
                <a:solidFill>
                  <a:srgbClr val="5F6F85"/>
                </a:solidFill>
              </a:rPr>
              <a:t>SafeSort · 2/6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803E5-B84D-40B9-9082-95D85B1B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51485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CB41A-1A92-4BF8-830F-34E98F78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C2B55"/>
                </a:solidFill>
              </a:defRPr>
            </a:pPr>
            <a:r>
              <a:rPr sz="1725" b="1">
                <a:solidFill>
                  <a:srgbClr val="0C2B55"/>
                </a:solidFill>
              </a:rPr>
              <a:t>Подготовка испытания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DFFC9-7053-471B-9E25-A18966ED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71725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STL задаёт форму виртуального товара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B94CD-9915-4770-AFFD-88EDA982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F85"/>
                </a:solidFill>
              </a:defRPr>
            </a:pPr>
            <a:r>
              <a:rPr sz="1425">
                <a:solidFill>
                  <a:srgbClr val="5F6F85"/>
                </a:solidFill>
              </a:rPr>
              <a:t>В браузере жюри проверяет размеры, форму и выбранный маршрут.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3A923-2CF9-4ECB-9F5F-71248778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6242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6FF4"/>
                </a:solidFill>
              </a:defRPr>
            </a:pPr>
            <a:r>
              <a:rPr sz="1350" b="1">
                <a:solidFill>
                  <a:srgbClr val="0B6FF4"/>
                </a:solidFill>
              </a:rPr>
              <a:t>Файл не передаётся автоматически в Webots.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D90A1-B20F-446E-AB17-1844B9AA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81150"/>
            <a:ext cx="588645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B52D8-5749-4C84-832A-69CCC3BC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90700"/>
            <a:ext cx="521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C2B55"/>
                </a:solidFill>
              </a:defRPr>
            </a:pPr>
            <a:r>
              <a:rPr sz="1725" b="1">
                <a:solidFill>
                  <a:srgbClr val="0C2B55"/>
                </a:solidFill>
              </a:rPr>
              <a:t>Цикл сортировки в Webots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2296C-4941-4691-B42B-C4A1ECC6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143250"/>
            <a:ext cx="32385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8FBDF7"/>
          </a:solidFill>
          <a:ln xmlns:a="http://schemas.openxmlformats.org/drawingml/2006/main" w="0">
            <a:solidFill>
              <a:srgbClr val="8FBDF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633DC-16E6-4ABF-9022-1B69F410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143250"/>
            <a:ext cx="32385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8FBDF7"/>
          </a:solidFill>
          <a:ln xmlns:a="http://schemas.openxmlformats.org/drawingml/2006/main" w="0">
            <a:solidFill>
              <a:srgbClr val="8FBD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91279-0CF6-4C7C-B359-1A4173DC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143250"/>
            <a:ext cx="32385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8FBDF7"/>
          </a:solidFill>
          <a:ln xmlns:a="http://schemas.openxmlformats.org/drawingml/2006/main" w="0">
            <a:solidFill>
              <a:srgbClr val="8FBD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90B2BF-26A2-44DF-BE45-11377A99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143250"/>
            <a:ext cx="32385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8FBDF7"/>
          </a:solidFill>
          <a:ln xmlns:a="http://schemas.openxmlformats.org/drawingml/2006/main" w="0">
            <a:solidFill>
              <a:srgbClr val="8FBDF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CD980-7CA1-40A8-980C-AEEFD5CD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908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FF4"/>
          </a:solidFill>
          <a:ln xmlns:a="http://schemas.openxmlformats.org/drawingml/2006/main" w="9525">
            <a:solidFill>
              <a:srgbClr val="0B6F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84E9F9-A1DE-4EF0-B8E5-351F49DF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24200"/>
            <a:ext cx="85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5 карт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глубины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6DB12E-1834-4757-B39F-71D55E96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908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FF4"/>
          </a:solidFill>
          <a:ln xmlns:a="http://schemas.openxmlformats.org/drawingml/2006/main" w="9525">
            <a:solidFill>
              <a:srgbClr val="0B6F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6E6B9-8AB1-40A8-96D9-D5D8A228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24200"/>
            <a:ext cx="85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Размеры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и форма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30BCAC-12DF-499F-AF54-25002F2F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FF4"/>
          </a:solidFill>
          <a:ln xmlns:a="http://schemas.openxmlformats.org/drawingml/2006/main" w="9525">
            <a:solidFill>
              <a:srgbClr val="0B6F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F6A74F-DC43-467C-8564-CD91E08D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24200"/>
            <a:ext cx="85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Маршрут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B / C / 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C89E0E-AA9A-4C1D-9478-93B04882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908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FF4"/>
          </a:solidFill>
          <a:ln xmlns:a="http://schemas.openxmlformats.org/drawingml/2006/main" w="9525">
            <a:solidFill>
              <a:srgbClr val="0B6F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235303-4195-4792-AFEF-6C57A538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24200"/>
            <a:ext cx="85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Заслонки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920EC6-B32E-4B85-B26F-DA10D05D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908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FF4"/>
          </a:solidFill>
          <a:ln xmlns:a="http://schemas.openxmlformats.org/drawingml/2006/main" w="9525">
            <a:solidFill>
              <a:srgbClr val="0B6F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754674-D26C-4586-877C-BB7D8E67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24200"/>
            <a:ext cx="85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Датчик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выхода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AB4A66-CCE0-49C3-9789-0FC89445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48150"/>
            <a:ext cx="5124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C2B55"/>
                </a:solidFill>
              </a:defRPr>
            </a:pPr>
            <a:r>
              <a:rPr sz="1500" b="1">
                <a:solidFill>
                  <a:srgbClr val="0C2B55"/>
                </a:solidFill>
              </a:rPr>
              <a:t>Компьютерное зрение здесь — восстановление геометрии по пяти картам глубины.</a:t>
            </a:r>
          </a:p>
        </p:txBody>
      </p:sp>
    </p:spTree>
    <p:extLst>
      <p:ext uri="{BB962C8B-B14F-4D97-AF65-F5344CB8AC3E}">
        <p14:creationId xmlns:p14="http://schemas.microsoft.com/office/powerpoint/2010/main" val="5284532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F5637E-6122-4B00-BA30-1B024204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6FF4"/>
                </a:solidFill>
              </a:defRPr>
            </a:pPr>
            <a:r>
              <a:rPr sz="975" b="1">
                <a:solidFill>
                  <a:srgbClr val="0B6FF4"/>
                </a:solidFill>
              </a:rPr>
              <a:t>ГДЕ НАША РАЗРАБОТКА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326EF-4B50-4AA2-A813-703F59D3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Правила заданы условием. Мы построили проверяемый цикл вокруг них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648BD-D56D-4D2F-86E7-9359F036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674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F85"/>
                </a:solidFill>
              </a:defRPr>
            </a:pPr>
            <a:r>
              <a:rPr sz="900">
                <a:solidFill>
                  <a:srgbClr val="5F6F85"/>
                </a:solidFill>
              </a:rPr>
              <a:t>SafeSort · 3/6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28208-52AC-45F1-80FD-E0BD046B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C2B55"/>
                </a:solidFill>
              </a:defRPr>
            </a:pPr>
            <a:r>
              <a:rPr sz="1725" b="1">
                <a:solidFill>
                  <a:srgbClr val="0C2B55"/>
                </a:solidFill>
              </a:rPr>
              <a:t>Задано организаторами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57915-760E-41E7-A5DE-EFD1ADD5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F5B"/>
          </a:solidFill>
          <a:ln xmlns:a="http://schemas.openxmlformats.org/drawingml/2006/main" w="9525">
            <a:solidFill>
              <a:srgbClr val="157F5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D8325-80C2-4AB7-B668-9E4317D0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43125"/>
            <a:ext cx="381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1F3A"/>
                </a:solidFill>
              </a:defRPr>
            </a:pPr>
            <a:r>
              <a:rPr sz="1425">
                <a:solidFill>
                  <a:srgbClr val="0B1F3A"/>
                </a:solidFill>
              </a:rPr>
              <a:t>размеры допустимы, K ≤ 0,8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860CA-C9A8-407C-89B0-9BF97B61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36A00"/>
          </a:solidFill>
          <a:ln xmlns:a="http://schemas.openxmlformats.org/drawingml/2006/main" w="9525">
            <a:solidFill>
              <a:srgbClr val="C36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A4D7B-2E36-4DD8-A36C-F76904D2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38475"/>
            <a:ext cx="381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1F3A"/>
                </a:solidFill>
              </a:defRPr>
            </a:pPr>
            <a:r>
              <a:rPr sz="1425">
                <a:solidFill>
                  <a:srgbClr val="0B1F3A"/>
                </a:solidFill>
              </a:rPr>
              <a:t>хотя бы один размер не проходит границу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66E45-E395-466A-8DA9-1714C099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FFE60-B255-40B8-82EF-B357AFC4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33825"/>
            <a:ext cx="381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1F3A"/>
                </a:solidFill>
              </a:defRPr>
            </a:pPr>
            <a:r>
              <a:rPr sz="1425">
                <a:solidFill>
                  <a:srgbClr val="0B1F3A"/>
                </a:solidFill>
              </a:rPr>
              <a:t>размеры допустимы, K &gt; 0,8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FF696-4CDE-4B11-8EAB-CE00965F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562100"/>
            <a:ext cx="952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0">
            <a:solidFill>
              <a:srgbClr val="D7E0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7AB8D-3938-4BBB-B25A-DEC9CE1C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C2B55"/>
                </a:solidFill>
              </a:defRPr>
            </a:pPr>
            <a:r>
              <a:rPr sz="1725" b="1">
                <a:solidFill>
                  <a:srgbClr val="0C2B55"/>
                </a:solidFill>
              </a:rPr>
              <a:t>Разработано командой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8FE50-991A-42C4-BF1B-3F269925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336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FF4"/>
          </a:solidFill>
          <a:ln xmlns:a="http://schemas.openxmlformats.org/drawingml/2006/main" w="9525">
            <a:solidFill>
              <a:srgbClr val="0B6F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A8A77-3CF0-4E78-AC55-9C233CDA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574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Пять карт глубины, чтобы измерить товар со всех сторон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2ECC5F-F348-48AF-B2CB-094E70C7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146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FF4"/>
          </a:solidFill>
          <a:ln xmlns:a="http://schemas.openxmlformats.org/drawingml/2006/main" w="9525">
            <a:solidFill>
              <a:srgbClr val="0B6F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EF119-7184-4FA8-AE7B-830ADFE0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384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Измерение размеров и формы при повороте товара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F921E2-C929-40C8-8C7F-91F49DD7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957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FF4"/>
          </a:solidFill>
          <a:ln xmlns:a="http://schemas.openxmlformats.org/drawingml/2006/main" w="9525">
            <a:solidFill>
              <a:srgbClr val="0B6F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A419F-2264-4BAF-9162-7DF3997A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195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Управление двумя заслонками по положению на ленте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723D81-CB76-4062-B627-0A191EF5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767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FF4"/>
          </a:solidFill>
          <a:ln xmlns:a="http://schemas.openxmlformats.org/drawingml/2006/main" w="9525">
            <a:solidFill>
              <a:srgbClr val="0B6F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745983-EB92-4BB8-801A-4139298D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005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Успех только после датчика выхода; иначе безопасная остановка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CDB171-5FFE-4DD1-8D52-AC5D7C18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70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6FF4"/>
                </a:solidFill>
              </a:defRPr>
            </a:pPr>
            <a:r>
              <a:rPr sz="1575" b="1">
                <a:solidFill>
                  <a:srgbClr val="0B6FF4"/>
                </a:solidFill>
              </a:rPr>
              <a:t>Во время сортировки правильный ответ заранее неизвестен.</a:t>
            </a:r>
          </a:p>
        </p:txBody>
      </p:sp>
    </p:spTree>
    <p:extLst>
      <p:ext uri="{BB962C8B-B14F-4D97-AF65-F5344CB8AC3E}">
        <p14:creationId xmlns:p14="http://schemas.microsoft.com/office/powerpoint/2010/main" val="17239288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76D17-5884-4432-A082-7BB2D3E8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6FF4"/>
                </a:solidFill>
              </a:defRPr>
            </a:pPr>
            <a:r>
              <a:rPr sz="975" b="1">
                <a:solidFill>
                  <a:srgbClr val="0B6FF4"/>
                </a:solidFill>
              </a:rPr>
              <a:t>ТРИ НЕЗАВИСИМЫЕ ПРОВЕРКИ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D77E3-BC2D-4220-9875-136C86DA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Каждая проверка отвечает на свой вопрос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89B85-C55A-4F01-A668-492DB255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674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F85"/>
                </a:solidFill>
              </a:defRPr>
            </a:pPr>
            <a:r>
              <a:rPr sz="900">
                <a:solidFill>
                  <a:srgbClr val="5F6F85"/>
                </a:solidFill>
              </a:rPr>
              <a:t>SafeSort · 4/6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6850E-FECC-4532-9DBF-81689B79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37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C2B55"/>
                </a:solidFill>
              </a:defRPr>
            </a:pPr>
            <a:r>
              <a:rPr sz="1575" b="1">
                <a:solidFill>
                  <a:srgbClr val="0C2B55"/>
                </a:solidFill>
              </a:rPr>
              <a:t>1. Неизвестная геометрия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da0bcf8d64917"/>
          <a:srcRect xmlns:a="http://schemas.openxmlformats.org/drawingml/2006/main" l="17687" t="0" r="176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066925"/>
            <a:ext cx="3371850" cy="257175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CA57A-3061-4F0F-94D0-03DFFC70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3371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F6F85"/>
                </a:solidFill>
              </a:defRPr>
            </a:pPr>
            <a:r>
              <a:rPr sz="1275">
                <a:solidFill>
                  <a:srgbClr val="5F6F85"/>
                </a:solidFill>
              </a:rPr>
              <a:t>Браузер: размеры, форма, маршрут и объяснение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A7C17-9421-49BF-B63B-0360CAC3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24000"/>
            <a:ext cx="337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C2B55"/>
                </a:solidFill>
              </a:defRPr>
            </a:pPr>
            <a:r>
              <a:rPr sz="1575" b="1">
                <a:solidFill>
                  <a:srgbClr val="0C2B55"/>
                </a:solidFill>
              </a:rPr>
              <a:t>2. Исполнение маршрута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96087c8a14132"/>
          <a:srcRect xmlns:a="http://schemas.openxmlformats.org/drawingml/2006/main" l="13125" t="0" r="13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2066925"/>
            <a:ext cx="3371850" cy="257175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99AB5-D097-47DF-9503-E0F54AB5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0125"/>
            <a:ext cx="3371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F6F85"/>
                </a:solidFill>
              </a:defRPr>
            </a:pPr>
            <a:r>
              <a:rPr sz="1275">
                <a:solidFill>
                  <a:srgbClr val="5F6F85"/>
                </a:solidFill>
              </a:rPr>
              <a:t>Webots: движение, заслонки и датчик выхода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3F032-4769-4133-9498-09F1E1B9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24000"/>
            <a:ext cx="337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C2B55"/>
                </a:solidFill>
              </a:defRPr>
            </a:pPr>
            <a:r>
              <a:rPr sz="1575" b="1">
                <a:solidFill>
                  <a:srgbClr val="0C2B55"/>
                </a:solidFill>
              </a:rPr>
              <a:t>3. Отказ датчика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6b4c0dcc345d2"/>
          <a:srcRect xmlns:a="http://schemas.openxmlformats.org/drawingml/2006/main" l="13125" t="0" r="13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2900" y="2066925"/>
            <a:ext cx="3371850" cy="257175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8A1EB-56A2-4A4F-855B-BD6E8EC8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10125"/>
            <a:ext cx="3371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F6F85"/>
                </a:solidFill>
              </a:defRPr>
            </a:pPr>
            <a:r>
              <a:rPr sz="1275">
                <a:solidFill>
                  <a:srgbClr val="5F6F85"/>
                </a:solidFill>
              </a:rPr>
              <a:t>Нет подтверждения — цикл завершается с FAULT</a:t>
            </a:r>
          </a:p>
        </p:txBody>
      </p:sp>
    </p:spTree>
    <p:extLst>
      <p:ext uri="{BB962C8B-B14F-4D97-AF65-F5344CB8AC3E}">
        <p14:creationId xmlns:p14="http://schemas.microsoft.com/office/powerpoint/2010/main" val="6484655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FDA8DE-1C56-41B1-A46D-AA354B2D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6FF4"/>
                </a:solidFill>
              </a:defRPr>
            </a:pPr>
            <a:r>
              <a:rPr sz="975" b="1">
                <a:solidFill>
                  <a:srgbClr val="0B6FF4"/>
                </a:solidFill>
              </a:rPr>
              <a:t>БЕЗОПАСНОЕ ПОВЕДЕНИЕ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F80B4-756D-4EA4-B450-24797938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Нет сигнала выхода — нет успешного цикла и нет следующего товара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F49E9-8F10-475A-9CA7-DF9662F8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674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F85"/>
                </a:solidFill>
              </a:defRPr>
            </a:pPr>
            <a:r>
              <a:rPr sz="900">
                <a:solidFill>
                  <a:srgbClr val="5F6F85"/>
                </a:solidFill>
              </a:rPr>
              <a:t>SafeSort · 5/6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6c4e540fe401f"/>
          <a:srcRect xmlns:a="http://schemas.openxmlformats.org/drawingml/2006/main" l="9976" t="0" r="99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71625"/>
            <a:ext cx="5286375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F11EF-B888-48D6-92BD-75FC86CD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62125"/>
            <a:ext cx="2190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ДАТЧИК ВЫХОДА ОТКЛЮЧЁН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81F48-DE1C-4E79-9CA6-6279E022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FF4"/>
          </a:solidFill>
          <a:ln xmlns:a="http://schemas.openxmlformats.org/drawingml/2006/main" w="9525">
            <a:solidFill>
              <a:srgbClr val="0B6F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696C2-01D0-4FC4-9F6E-2D974BB3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0020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Товар продолжает движение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C70F5-C987-43BD-BA6E-54DCB8DC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00250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F85"/>
                </a:solidFill>
              </a:defRPr>
            </a:pPr>
            <a:r>
              <a:rPr sz="1275">
                <a:solidFill>
                  <a:srgbClr val="5F6F85"/>
                </a:solidFill>
              </a:rPr>
              <a:t>Webots рассчитывает движение и положения заслонок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2FF41-3C44-43FE-9E42-A1F1421D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FF4"/>
          </a:solidFill>
          <a:ln xmlns:a="http://schemas.openxmlformats.org/drawingml/2006/main" w="9525">
            <a:solidFill>
              <a:srgbClr val="0B6F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9C15F-B026-46EB-BCCA-31434020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0035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Подтверждения выхода нет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607FC-1821-4DC7-B5D2-DFAE1955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00400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F85"/>
                </a:solidFill>
              </a:defRPr>
            </a:pPr>
            <a:r>
              <a:rPr sz="1275">
                <a:solidFill>
                  <a:srgbClr val="5F6F85"/>
                </a:solidFill>
              </a:rPr>
              <a:t>маршрут не засчитывается как выполненный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49CF4-30FA-45C2-B477-D92F3459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593BB0-2130-4656-B0B1-A81764B8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0050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42318"/>
                </a:solidFill>
              </a:defRPr>
            </a:pPr>
            <a:r>
              <a:rPr sz="1575" b="1">
                <a:solidFill>
                  <a:srgbClr val="B42318"/>
                </a:solidFill>
              </a:rPr>
              <a:t>Оператор видит FAULT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A29B0E-5CF7-46EE-BD63-A9427783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00550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F85"/>
                </a:solidFill>
              </a:defRPr>
            </a:pPr>
            <a:r>
              <a:rPr sz="1275">
                <a:solidFill>
                  <a:srgbClr val="5F6F85"/>
                </a:solidFill>
              </a:rPr>
              <a:t>следующий выпуск заблокирован до явного сброса</a:t>
            </a:r>
          </a:p>
        </p:txBody>
      </p:sp>
    </p:spTree>
    <p:extLst>
      <p:ext uri="{BB962C8B-B14F-4D97-AF65-F5344CB8AC3E}">
        <p14:creationId xmlns:p14="http://schemas.microsoft.com/office/powerpoint/2010/main" val="13037033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832C8A-31AC-41AF-9E5D-D8D1D15C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6FF4"/>
                </a:solidFill>
              </a:defRPr>
            </a:pPr>
            <a:r>
              <a:rPr sz="975" b="1">
                <a:solidFill>
                  <a:srgbClr val="0B6FF4"/>
                </a:solidFill>
              </a:rPr>
              <a:t>ГОТОВНОСТЬ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5AF8A-B18A-4F95-B7B7-09128C28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Цифровой стенд уже проверяет логику. Оборудование потребует отдельной калибровки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ACC25-2F0F-4E6F-A389-44A46D3C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674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F85"/>
                </a:solidFill>
              </a:defRPr>
            </a:pPr>
            <a:r>
              <a:rPr sz="900">
                <a:solidFill>
                  <a:srgbClr val="5F6F85"/>
                </a:solidFill>
              </a:rPr>
              <a:t>SafeSort · 6/6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C7728-6B00-4B28-B9CE-DFAAEBFC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C2B55"/>
                </a:solidFill>
              </a:defRPr>
            </a:pPr>
            <a:r>
              <a:rPr sz="1725" b="1">
                <a:solidFill>
                  <a:srgbClr val="0C2B55"/>
                </a:solidFill>
              </a:rPr>
              <a:t>Уже готово и проверено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95732-ED22-475C-87CD-5B207544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F5B"/>
          </a:solidFill>
          <a:ln xmlns:a="http://schemas.openxmlformats.org/drawingml/2006/main" w="9525">
            <a:solidFill>
              <a:srgbClr val="157F5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4E8F5-131E-4AF0-B6F8-2236BB58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1F3A"/>
                </a:solidFill>
              </a:defRPr>
            </a:pPr>
            <a:r>
              <a:rPr sz="1350">
                <a:solidFill>
                  <a:srgbClr val="0B1F3A"/>
                </a:solidFill>
              </a:rPr>
              <a:t>11 из 11 выданных STL совпали с независимой проверкой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AC508-E0D9-4598-93D5-70B78D66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F5B"/>
          </a:solidFill>
          <a:ln xmlns:a="http://schemas.openxmlformats.org/drawingml/2006/main" w="9525">
            <a:solidFill>
              <a:srgbClr val="157F5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71FBD-280F-4B75-98B1-56CCB5A9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1F3A"/>
                </a:solidFill>
              </a:defRPr>
            </a:pPr>
            <a:r>
              <a:rPr sz="1350">
                <a:solidFill>
                  <a:srgbClr val="0B1F3A"/>
                </a:solidFill>
              </a:rPr>
              <a:t>Маршруты B, C и D подтверждены датчиками выхода в Webots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72579-CF26-41B8-9B4F-2DF25A32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F5B"/>
          </a:solidFill>
          <a:ln xmlns:a="http://schemas.openxmlformats.org/drawingml/2006/main" w="9525">
            <a:solidFill>
              <a:srgbClr val="157F5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1ABBF-6F99-4B3C-B3E2-EC93CE56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1F3A"/>
                </a:solidFill>
              </a:defRPr>
            </a:pPr>
            <a:r>
              <a:rPr sz="1350">
                <a:solidFill>
                  <a:srgbClr val="0B1F3A"/>
                </a:solidFill>
              </a:rPr>
              <a:t>Отказ датчика переводит цикл в FAULT и блокирует выпуск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41A0B-E44E-494B-B66E-6F261BED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F5B"/>
          </a:solidFill>
          <a:ln xmlns:a="http://schemas.openxmlformats.org/drawingml/2006/main" w="9525">
            <a:solidFill>
              <a:srgbClr val="157F5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15018-C682-41BB-8D58-BE8DB8F5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1F3A"/>
                </a:solidFill>
              </a:defRPr>
            </a:pPr>
            <a:r>
              <a:rPr sz="1350">
                <a:solidFill>
                  <a:srgbClr val="0B1F3A"/>
                </a:solidFill>
              </a:rPr>
              <a:t>0 небезопасных маршрутов в 10 564 численных циклах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F38D2-7171-4960-9247-B687F94E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62100"/>
            <a:ext cx="95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0">
            <a:solidFill>
              <a:srgbClr val="D7E0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593D3-46A2-4197-B215-BA419834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C2B55"/>
                </a:solidFill>
              </a:defRPr>
            </a:pPr>
            <a:r>
              <a:rPr sz="1725" b="1">
                <a:solidFill>
                  <a:srgbClr val="0C2B55"/>
                </a:solidFill>
              </a:rPr>
              <a:t>Следующий шаг на оборудовании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340DBA-FA37-42F6-96F1-2CE5B2B3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FF4"/>
          </a:solidFill>
          <a:ln xmlns:a="http://schemas.openxmlformats.org/drawingml/2006/main" w="9525">
            <a:solidFill>
              <a:srgbClr val="0B6F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8D4E90-3EF5-4098-9B20-69A90E3D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57400"/>
            <a:ext cx="4229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1F3A"/>
                </a:solidFill>
              </a:defRPr>
            </a:pPr>
            <a:r>
              <a:rPr sz="1350">
                <a:solidFill>
                  <a:srgbClr val="0B1F3A"/>
                </a:solidFill>
              </a:rPr>
              <a:t>выбрать камеры, приводы и промышленный контроллер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A9C05-F26F-478F-B9C2-A707B512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FF4"/>
          </a:solidFill>
          <a:ln xmlns:a="http://schemas.openxmlformats.org/drawingml/2006/main" w="9525">
            <a:solidFill>
              <a:srgbClr val="0B6F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88D2DE-74A3-45F2-88C0-0650E6AD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95600"/>
            <a:ext cx="4229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1F3A"/>
                </a:solidFill>
              </a:defRPr>
            </a:pPr>
            <a:r>
              <a:rPr sz="1350">
                <a:solidFill>
                  <a:srgbClr val="0B1F3A"/>
                </a:solidFill>
              </a:rPr>
              <a:t>перенести калибровку виртуальных датчиков на реальный стенд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69E59D-B076-459C-8DB1-4B094D75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FF4"/>
          </a:solidFill>
          <a:ln xmlns:a="http://schemas.openxmlformats.org/drawingml/2006/main" w="9525">
            <a:solidFill>
              <a:srgbClr val="0B6F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FA8175-EA19-4F5C-9F2C-AE572657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33800"/>
            <a:ext cx="4229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1F3A"/>
                </a:solidFill>
              </a:defRPr>
            </a:pPr>
            <a:r>
              <a:rPr sz="1350">
                <a:solidFill>
                  <a:srgbClr val="0B1F3A"/>
                </a:solidFill>
              </a:rPr>
              <a:t>проверить скорость и надёжность на физических товарах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97C57E-A748-4C24-97DD-638DC16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51244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C2B55"/>
          </a:solidFill>
          <a:ln xmlns:a="http://schemas.openxmlformats.org/drawingml/2006/main" w="9525">
            <a:solidFill>
              <a:srgbClr val="0C2B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7FE374-EDDA-46A9-B344-8D59B5E7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29175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Теперь проверим неизвестный STL в браузере</a:t>
            </a:r>
          </a:p>
        </p:txBody>
      </p:sp>
    </p:spTree>
    <p:extLst>
      <p:ext uri="{BB962C8B-B14F-4D97-AF65-F5344CB8AC3E}">
        <p14:creationId xmlns:p14="http://schemas.microsoft.com/office/powerpoint/2010/main" val="6602326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B259DE-2440-4ADC-8664-FAC0E8E4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6FF4"/>
                </a:solidFill>
              </a:defRPr>
            </a:pPr>
            <a:r>
              <a:rPr sz="975" b="1">
                <a:solidFill>
                  <a:srgbClr val="0B6FF4"/>
                </a:solidFill>
              </a:rPr>
              <a:t>РЕЗЕРВ · ТОЧНЫЕ ПРАВИЛА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03A2F-0878-405F-AE38-2F2482B5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Как вычисляются B, C и 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68FE8-46D1-44CF-B992-DD90065F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674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F85"/>
                </a:solidFill>
              </a:defRPr>
            </a:pPr>
            <a:r>
              <a:rPr sz="900">
                <a:solidFill>
                  <a:srgbClr val="5F6F85"/>
                </a:solidFill>
              </a:rPr>
              <a:t>SafeSort · резерв 1/3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BEEC3-9F3E-4E52-BBCE-6F2801BF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36A00"/>
          </a:solidFill>
          <a:ln xmlns:a="http://schemas.openxmlformats.org/drawingml/2006/main" w="9525">
            <a:solidFill>
              <a:srgbClr val="C36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40146-604A-4044-907B-2D31D44A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906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Сначала габариты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F2A1B-2464-42BC-A856-65C82CCA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24000"/>
            <a:ext cx="609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F85"/>
                </a:solidFill>
              </a:defRPr>
            </a:pPr>
            <a:r>
              <a:rPr sz="1350">
                <a:solidFill>
                  <a:srgbClr val="5F6F85"/>
                </a:solidFill>
              </a:rPr>
              <a:t>Каждый размер строго больше 10 мм; отсортированные размеры строго меньше 450 × 320 × 320 мм. Иначе 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5F2B5-A27C-4C27-AEBD-63B2A16C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68974-8525-4E46-9A36-64C3A2AA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956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Затем форма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FB55A-8381-49CE-8D0F-6463E291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28925"/>
            <a:ext cx="609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F85"/>
                </a:solidFill>
              </a:defRPr>
            </a:pPr>
            <a:r>
              <a:rPr sz="1350">
                <a:solidFill>
                  <a:srgbClr val="5F6F85"/>
                </a:solidFill>
              </a:rPr>
              <a:t>При допустимых габаритах K = r / R. Если K &gt; 0,8, маршрут 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E5A44-70C3-4BD3-930A-3658FACF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F5B"/>
          </a:solidFill>
          <a:ln xmlns:a="http://schemas.openxmlformats.org/drawingml/2006/main" w="9525">
            <a:solidFill>
              <a:srgbClr val="157F5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F6EF2-223E-4724-AE12-8CB2FB51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005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Остальные допустимые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C289F-244C-4FDF-91FE-0D3F68E5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33850"/>
            <a:ext cx="609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F85"/>
                </a:solidFill>
              </a:defRPr>
            </a:pPr>
            <a:r>
              <a:rPr sz="1350">
                <a:solidFill>
                  <a:srgbClr val="5F6F85"/>
                </a:solidFill>
              </a:rPr>
              <a:t>При допустимых габаритах и K ≤ 0,8 товар идёт в B.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36ED2-74B3-4022-B41F-6A91399C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0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6FF4"/>
                </a:solidFill>
              </a:defRPr>
            </a:pPr>
            <a:r>
              <a:rPr sz="1500" b="1">
                <a:solidFill>
                  <a:srgbClr val="0B6FF4"/>
                </a:solidFill>
              </a:rPr>
              <a:t>Равенство строгой границе не проходит. Проверка C всегда выполняется первой.</a:t>
            </a:r>
          </a:p>
        </p:txBody>
      </p:sp>
    </p:spTree>
    <p:extLst>
      <p:ext uri="{BB962C8B-B14F-4D97-AF65-F5344CB8AC3E}">
        <p14:creationId xmlns:p14="http://schemas.microsoft.com/office/powerpoint/2010/main" val="10700008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2C1D7-8DA9-45C1-A2B0-5BCEDE32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6FF4"/>
                </a:solidFill>
              </a:defRPr>
            </a:pPr>
            <a:r>
              <a:rPr sz="975" b="1">
                <a:solidFill>
                  <a:srgbClr val="0B6FF4"/>
                </a:solidFill>
              </a:rPr>
              <a:t>РЕЗЕРВ · ГЕОМЕТРИЯ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E7FED-60CF-4DFA-A164-BCF16319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Как система получает размеры и коэффициент 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305E1-5B73-471B-AE9A-18CBAB51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674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F85"/>
                </a:solidFill>
              </a:defRPr>
            </a:pPr>
            <a:r>
              <a:rPr sz="900">
                <a:solidFill>
                  <a:srgbClr val="5F6F85"/>
                </a:solidFill>
              </a:rPr>
              <a:t>SafeSort · резерв 2/3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c17a1d0434285"/>
          <a:stretch xmlns:a="http://schemas.openxmlformats.org/drawingml/2006/main"/>
        </p:blipFill>
        <p:spPr>
          <a:xfrm xmlns:a="http://schemas.openxmlformats.org/drawingml/2006/main">
            <a:off x="1123950" y="1562100"/>
            <a:ext cx="3733800" cy="3733800"/>
          </a:xfrm>
          <a:prstGeom xmlns:a="http://schemas.openxmlformats.org/drawingml/2006/main" prst="roundRect">
            <a:avLst>
              <a:gd name="adj" fmla="val 306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FE9F9-FD9C-4987-98E6-F9C255B0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24025"/>
            <a:ext cx="1866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B55"/>
          </a:solidFill>
          <a:ln xmlns:a="http://schemas.openxmlformats.org/drawingml/2006/main" w="9525">
            <a:solidFill>
              <a:srgbClr val="0C2B5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КАРТА ГЛУБИНЫ WEBOTS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792AB-9CB9-45E5-A3DF-73830B94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47825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Пять датчиков смотрят на товар с разных сторон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AF72B-727F-4A06-AE20-E717ED4C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F85"/>
                </a:solidFill>
              </a:defRPr>
            </a:pPr>
            <a:r>
              <a:rPr sz="1500">
                <a:solidFill>
                  <a:srgbClr val="5F6F85"/>
                </a:solidFill>
              </a:rPr>
              <a:t>Система объединяет измерения и строит ориентированный габарит, устойчивый к повороту товара.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B2E8D-64FE-4567-8D52-A2B9CB38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1470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F85"/>
                </a:solidFill>
              </a:defRPr>
            </a:pPr>
            <a:r>
              <a:rPr sz="1500">
                <a:solidFill>
                  <a:srgbClr val="5F6F85"/>
                </a:solidFill>
              </a:rPr>
              <a:t>Форма оценивается по нескольким поперечным сечениям: K = r вписанной / R описанной окружности.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C1073-BB7A-48EB-BB15-EEC82F56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43400"/>
            <a:ext cx="55054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FF2FF"/>
          </a:solidFill>
          <a:ln xmlns:a="http://schemas.openxmlformats.org/drawingml/2006/main" w="9525">
            <a:solidFill>
              <a:srgbClr val="A9D8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6A41A-ADD1-4595-A3DF-8B80C785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767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C2B55"/>
                </a:solidFill>
              </a:defRPr>
            </a:pPr>
            <a:r>
              <a:rPr sz="1650" b="1">
                <a:solidFill>
                  <a:srgbClr val="0C2B55"/>
                </a:solidFill>
              </a:rPr>
              <a:t>11 из 11 выданных STL совпали с независимой проверкой, включая повёрнутые модели.</a:t>
            </a:r>
          </a:p>
        </p:txBody>
      </p:sp>
    </p:spTree>
    <p:extLst>
      <p:ext uri="{BB962C8B-B14F-4D97-AF65-F5344CB8AC3E}">
        <p14:creationId xmlns:p14="http://schemas.microsoft.com/office/powerpoint/2010/main" val="5043630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9303E1-A755-4E36-8CE6-5D5756DC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6FF4"/>
                </a:solidFill>
              </a:defRPr>
            </a:pPr>
            <a:r>
              <a:rPr sz="975" b="1">
                <a:solidFill>
                  <a:srgbClr val="0B6FF4"/>
                </a:solidFill>
              </a:rPr>
              <a:t>РЕЗЕРВ · РЕЗУЛЬТАТЫ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577D7-709D-472F-9953-5F77BA80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Что означает каждое число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C55F0-7D9D-436A-81F6-B5D8CDF8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674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F85"/>
                </a:solidFill>
              </a:defRPr>
            </a:pPr>
            <a:r>
              <a:rPr sz="900">
                <a:solidFill>
                  <a:srgbClr val="5F6F85"/>
                </a:solidFill>
              </a:rPr>
              <a:t>SafeSort · резерв 3/3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8578B-EBEF-4B5C-A5A9-B165D737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23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6FF4"/>
                </a:solidFill>
              </a:defRPr>
            </a:pPr>
            <a:r>
              <a:rPr sz="3150" b="1">
                <a:solidFill>
                  <a:srgbClr val="0B6FF4"/>
                </a:solidFill>
              </a:rPr>
              <a:t>11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4A536-CB9C-4C92-A23E-70490754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42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F85"/>
                </a:solidFill>
              </a:defRPr>
            </a:pPr>
            <a:r>
              <a:rPr sz="1275">
                <a:solidFill>
                  <a:srgbClr val="5F6F85"/>
                </a:solidFill>
              </a:rPr>
              <a:t>выданных STL совпали с независимой геометрической проверкой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795D0-CE42-4E57-833F-90570CFC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57350"/>
            <a:ext cx="223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7F5B"/>
                </a:solidFill>
              </a:defRPr>
            </a:pPr>
            <a:r>
              <a:rPr sz="3150" b="1">
                <a:solidFill>
                  <a:srgbClr val="157F5B"/>
                </a:solidFill>
              </a:rPr>
              <a:t>10 564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3E984-7908-4514-9253-4DC10C3A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86000"/>
            <a:ext cx="242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F85"/>
                </a:solidFill>
              </a:defRPr>
            </a:pPr>
            <a:r>
              <a:rPr sz="1275">
                <a:solidFill>
                  <a:srgbClr val="5F6F85"/>
                </a:solidFill>
              </a:rPr>
              <a:t>численных маршрута в тесте надёжности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202DF-9321-4090-BA12-FAB84BCD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57350"/>
            <a:ext cx="223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42318"/>
                </a:solidFill>
              </a:defRPr>
            </a:pPr>
            <a:r>
              <a:rPr sz="3150" b="1">
                <a:solidFill>
                  <a:srgbClr val="B42318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41C28-365B-4734-AFE8-B12E6DA5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242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F85"/>
                </a:solidFill>
              </a:defRPr>
            </a:pPr>
            <a:r>
              <a:rPr sz="1275">
                <a:solidFill>
                  <a:srgbClr val="5F6F85"/>
                </a:solidFill>
              </a:rPr>
              <a:t>небезопасных маршрутов в этих 10 564 численных циклах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2C958-FA29-480A-B39C-B9622E5D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57350"/>
            <a:ext cx="223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36A00"/>
                </a:solidFill>
              </a:defRPr>
            </a:pPr>
            <a:r>
              <a:rPr sz="3150" b="1">
                <a:solidFill>
                  <a:srgbClr val="C36A00"/>
                </a:solidFill>
              </a:rPr>
              <a:t>5 143 / 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2C5C2-8157-4380-8EA5-15CC8F78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86000"/>
            <a:ext cx="242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F85"/>
                </a:solidFill>
              </a:defRPr>
            </a:pPr>
            <a:r>
              <a:rPr sz="1275">
                <a:solidFill>
                  <a:srgbClr val="5F6F85"/>
                </a:solidFill>
              </a:rPr>
              <a:t>расчётная оценка дискретной модели; требуется стендовая проверка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C929A-0C92-402A-973C-3CDDD3C2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70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0">
            <a:solidFill>
              <a:srgbClr val="D7E0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F5FAF-0C81-41DA-BE4B-A2617785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C2B55"/>
                </a:solidFill>
              </a:defRPr>
            </a:pPr>
            <a:r>
              <a:rPr sz="1575" b="1">
                <a:solidFill>
                  <a:srgbClr val="0C2B55"/>
                </a:solidFill>
              </a:rPr>
              <a:t>Физическая симуляция в Webots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53D5A-92FA-4D90-9491-774991E6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F85"/>
                </a:solidFill>
              </a:defRPr>
            </a:pPr>
            <a:r>
              <a:rPr sz="1425">
                <a:solidFill>
                  <a:srgbClr val="5F6F85"/>
                </a:solidFill>
              </a:rPr>
              <a:t>Маршруты B, C, D и отказ датчика выхода.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E517B-D743-4B4D-B410-309266AB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C2B55"/>
                </a:solidFill>
              </a:defRPr>
            </a:pPr>
            <a:r>
              <a:rPr sz="1575" b="1">
                <a:solidFill>
                  <a:srgbClr val="0C2B55"/>
                </a:solidFill>
              </a:rPr>
              <a:t>Численные модели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EF409-CEF8-4FE1-984C-5F1A2C7A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148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F85"/>
                </a:solidFill>
              </a:defRPr>
            </a:pPr>
            <a:r>
              <a:rPr sz="1425">
                <a:solidFill>
                  <a:srgbClr val="5F6F85"/>
                </a:solidFill>
              </a:rPr>
              <a:t>Точность геометрии, логика потока и расчётная производительность.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A8B1E7-E7CE-4401-9F96-AB443699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70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6FF4"/>
                </a:solidFill>
              </a:defRPr>
            </a:pPr>
            <a:r>
              <a:rPr sz="1500" b="1">
                <a:solidFill>
                  <a:srgbClr val="0B6FF4"/>
                </a:solidFill>
              </a:rPr>
              <a:t>Каждый прогон связан с журналом, seed и SHA-256.</a:t>
            </a:r>
          </a:p>
        </p:txBody>
      </p:sp>
    </p:spTree>
    <p:extLst>
      <p:ext uri="{BB962C8B-B14F-4D97-AF65-F5344CB8AC3E}">
        <p14:creationId xmlns:p14="http://schemas.microsoft.com/office/powerpoint/2010/main" val="4266236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2026-07-19T12:43:34.8370000Z</dcterms:created>
  <dcterms:modified xsi:type="dcterms:W3CDTF">2026-07-19T12:43:34.8370000Z</dcterms:modified>
</coreProperties>
</file>